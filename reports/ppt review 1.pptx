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sldIdLst>
    <p:sldId id="256" r:id="rId2"/>
    <p:sldId id="264" r:id="rId3"/>
    <p:sldId id="258" r:id="rId4"/>
    <p:sldId id="270" r:id="rId5"/>
    <p:sldId id="271" r:id="rId6"/>
    <p:sldId id="265" r:id="rId7"/>
    <p:sldId id="269" r:id="rId8"/>
    <p:sldId id="259" r:id="rId9"/>
    <p:sldId id="267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5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4D3-E35F-B0A7-ED30-E1EBE90B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22C6-FC6A-273C-606D-A2DAC339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D644-F006-A928-244E-DA01A1A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254C-9AD9-3FD3-875B-B41F0CD6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B3D1-C2C3-2A0C-80B1-0E83174A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9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29B-9038-D5E3-D08D-68B8BB58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0CF7-528D-0685-0439-5C3629B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95821-8ED5-007E-4DC3-F42FF574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6B54-5D03-F53F-CC21-486CC8CF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F6ED2-C4AB-9558-F5A0-26332147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F68-AA83-0DAA-E4BF-DCBA45A5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49C4-67E0-FF44-9094-041F9400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B79D-6303-B0C0-848F-688D6264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E60C-D266-BBC9-2AAF-6D7AC31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D5F7-46F2-8270-E934-218B480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1DE-20BB-D1C3-8AC8-0A314CA7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EC53-60D7-4100-84FB-58447FED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6187-1735-AEA4-DDA6-3C104B0C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14F4A-00AA-87CB-B8E5-25F5ECD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E2E68-1DCC-9F97-89CC-00BF96A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3205-4B3E-E036-8B73-019A76A4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6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1A98-C795-AF75-C8B7-12D13CA1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4CFD-01AF-8520-636F-593B5412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EDE-EA9B-5902-8B8A-1637E056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2520-7477-D76C-A4CB-2DFC6AFE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47E1E-B015-43F8-5962-42D03198A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34BF-491C-371F-7029-D4E9965D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DBB94-E12F-07B9-0F11-8C68369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5AFA-7AF1-2523-A36B-FDBC77E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16-C1D5-E842-27DE-87444ADC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463C-6BD1-95C4-3920-C1D1F455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AD79-6A15-BD26-705B-2A30CB3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DD1E-0E50-18BE-E947-906D44A9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79A7B-5D65-2C42-AAA8-467D5FD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C456-F1CD-9C8E-F2EA-F45AF4EA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D7DF-0E86-2C35-1A21-BEC081B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EC-12B4-608A-68FC-C2E7DB45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E1EB-FE64-E8B9-833E-6B243B17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1188-FABB-53CD-D160-41FBCF89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B192-BA2B-B10F-C7C8-F56D9D1E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579F-CEF2-D46A-79AE-3F97269C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4A2A-FE86-749B-4393-ED228051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6C3-FA7D-CA66-7349-66AF7E07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3053-82F1-D42C-9D96-81D4A2BA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7FD86-7715-3D95-7DAF-CA665C415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30773-F8A8-0912-A846-529772DA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6EF-56E5-3D5A-BE3B-4A67B236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49EF5-0C20-0FC2-5256-4F871E9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581-596F-65E3-111B-94ABD2DB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FE410-CD26-D614-E9B6-0A5DCE2E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D5A-501C-DED5-7743-817A2A6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1E12-F7BF-6BF4-FF85-44CED877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0F8-FA8A-BFFB-4728-029331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87713-4034-F2A5-265B-E8F23728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666FE-BBA6-D121-0DF6-666BE60D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61F1-5C47-9B36-46A2-D30F5126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6A5C-221D-4BE7-3EDB-E29D5FE6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070A-8DE2-EAD4-4A6E-C641AD5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05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B27F-6864-ACC7-EA81-966CE879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2EA6-6EF9-C9E7-C048-7BE6DA92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FEE-8409-20C4-A7BF-06655975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871B-D663-4AA0-8EF1-28DA4CB8A78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076-E14D-8745-DE2B-7919A529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D965-3CD6-EF38-AC1F-BA92F665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11" descr="KL University Hyderabad">
            <a:extLst>
              <a:ext uri="{FF2B5EF4-FFF2-40B4-BE49-F238E27FC236}">
                <a16:creationId xmlns:a16="http://schemas.microsoft.com/office/drawing/2014/main" id="{54CBCDD5-E62F-3293-20CE-3B689DFB2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EBC7B-FA54-792B-0C43-1A1C1D13EE5F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BB20-CDEB-04BA-1109-D5075E8A581C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811288-108C-6FBF-2452-58043AC37C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73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asitAliii/sdlc-scenario-based-qa-datase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GPT-Laboratory/CodePori_v02" TargetMode="External"/><Relationship Id="rId4" Type="http://schemas.openxmlformats.org/officeDocument/2006/relationships/hyperlink" Target="ai_multi_agent_interactions_2026.csv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8" y="388782"/>
            <a:ext cx="9700727" cy="1509897"/>
          </a:xfrm>
        </p:spPr>
        <p:txBody>
          <a:bodyPr wrap="square" lIns="0" tIns="0" rIns="0" bIns="0" anchor="t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 Framework for Automated Software Development</a:t>
            </a:r>
            <a:br>
              <a:rPr lang="en-US" sz="4000" dirty="0">
                <a:solidFill>
                  <a:srgbClr val="FF0000"/>
                </a:solidFill>
              </a:rPr>
            </a:b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Framework for Automated Software Development</a:t>
            </a:r>
            <a:br>
              <a:rPr lang="en-US" sz="4000" dirty="0"/>
            </a:br>
            <a:endParaRPr 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A6BA-DA13-DBE5-CB68-09719FE56814}"/>
              </a:ext>
            </a:extLst>
          </p:cNvPr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F8B9A-330F-59D4-819E-DEFB66B2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88782"/>
            <a:ext cx="1790678" cy="66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44755B-1061-1DFD-ADFE-49C6B5AC4D99}"/>
              </a:ext>
            </a:extLst>
          </p:cNvPr>
          <p:cNvSpPr txBox="1"/>
          <p:nvPr/>
        </p:nvSpPr>
        <p:spPr>
          <a:xfrm>
            <a:off x="4085251" y="2586752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>
              <a:spcBef>
                <a:spcPts val="0"/>
              </a:spcBef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2420030444 –  Suhitha Chalasani</a:t>
            </a: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2420030398 – Kapilavai Hamsini</a:t>
            </a: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2420030472 – Sri Raaga Tangirala</a:t>
            </a:r>
          </a:p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F4754-A516-A68C-7562-4278709865DF}"/>
              </a:ext>
            </a:extLst>
          </p:cNvPr>
          <p:cNvSpPr txBox="1"/>
          <p:nvPr/>
        </p:nvSpPr>
        <p:spPr>
          <a:xfrm>
            <a:off x="4299855" y="4448054"/>
            <a:ext cx="368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Cluster – 2, Section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655" y="1192273"/>
            <a:ext cx="9996075" cy="357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SDLC is manual and slow across requirements, design, coding, testing, and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LLM can't handle a full project end-to-end — too much breadth and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ChatDev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MetaGPT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isolated snippets, not complete multi-file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 system that takes one requirement and carries it through planning, coding, review, testing (with retries), and documentation on its own.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9C0C7-B501-8129-8DB9-D89244D38516}"/>
              </a:ext>
            </a:extLst>
          </p:cNvPr>
          <p:cNvSpPr txBox="1"/>
          <p:nvPr/>
        </p:nvSpPr>
        <p:spPr>
          <a:xfrm>
            <a:off x="1253412" y="1669155"/>
            <a:ext cx="968517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4-agent pipeline — Planner, Coder, Tester, Reviewer — each owning one SDLC.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sequence agents, share state, and manage retries.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one shared state object (spec, code, test results, review verdicts, retry counts) so agents don't lose context.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gpt-oss-120b (Planner/Reviewer) and gpt-oss-20b (Coder/Tester) — fast, free-tier, no GPU needed.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test/review failure, loop back to the Coder automatically, capped by a retry limit.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F929-F27B-6DF9-59D3-C1E0B7B1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3AC8B7-EABA-EF9B-99C1-87D4943D9EAC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7166D-ED5B-0678-25C1-58D903B6D72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3DC46-F2A6-F02B-94C8-65150C9E2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4" y="778740"/>
            <a:ext cx="11464212" cy="591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A70C-A0C7-764C-FD7F-7677B6AF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784A72-EE21-E986-A925-33D1C398657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AC205-5A0B-1C1B-51A6-8C8390BA40AB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27BC0-090E-9FDE-88EF-4A6B9D185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2" y="806448"/>
            <a:ext cx="11221616" cy="577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5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11842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RESEARCH GAPS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D3444-203D-A223-C89C-DD2C92140907}"/>
              </a:ext>
            </a:extLst>
          </p:cNvPr>
          <p:cNvSpPr txBox="1"/>
          <p:nvPr/>
        </p:nvSpPr>
        <p:spPr>
          <a:xfrm>
            <a:off x="717431" y="1194300"/>
            <a:ext cx="1060890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ChatDev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MetaGPT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AgentCoder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isolated functions, not full projects with a real test-to-code feedback loop.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CodePori's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found hallucination, cross-file memory loss, and orchestration failures — issues standard benchmarks miss.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AgentMesh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debugging loop but no orchestrator for multi-file coordination.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Sami et al.'s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separates requirements/architecture/code well but has no automatic retry loop on test failure.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literature relies on paid closed models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(GPT-3.5/4, Claude)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leaves room for a fast, low-cost, open-weight approach via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E7B8-B1FC-B6CA-A5BB-4EB68ADE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F0ED8-F5FC-E313-8FAF-D4F4318C912E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7A3BD-532C-A72A-3287-909DC3D68BDA}"/>
              </a:ext>
            </a:extLst>
          </p:cNvPr>
          <p:cNvSpPr txBox="1"/>
          <p:nvPr/>
        </p:nvSpPr>
        <p:spPr>
          <a:xfrm>
            <a:off x="2482720" y="310127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DATASETS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E40EB-BC02-1B4F-BE69-2B8EBE60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720" y="3429000"/>
            <a:ext cx="7226559" cy="30619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DDECBF-1746-CDC1-2D85-A43FF9B4F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37066"/>
              </p:ext>
            </p:extLst>
          </p:nvPr>
        </p:nvGraphicFramePr>
        <p:xfrm>
          <a:off x="399660" y="1241424"/>
          <a:ext cx="1137401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7008">
                  <a:extLst>
                    <a:ext uri="{9D8B030D-6E8A-4147-A177-3AD203B41FA5}">
                      <a16:colId xmlns:a16="http://schemas.microsoft.com/office/drawing/2014/main" val="3627985643"/>
                    </a:ext>
                  </a:extLst>
                </a:gridCol>
                <a:gridCol w="5687008">
                  <a:extLst>
                    <a:ext uri="{9D8B030D-6E8A-4147-A177-3AD203B41FA5}">
                      <a16:colId xmlns:a16="http://schemas.microsoft.com/office/drawing/2014/main" val="598841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5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HuggingFace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https://huggingface.co/datasets/BasitAliii/sdlc-scenario-based-qa-dataset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65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Kaggle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 action="ppaction://hlinkfile"/>
                        </a:rPr>
                        <a:t>ai_multi_agent_interactions_2026.csv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3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https://github.com/GPT-Laboratory/CodePori_v02</a:t>
                      </a:r>
                      <a:endParaRPr lang="en-US" sz="1800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182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28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282084" y="221673"/>
            <a:ext cx="8149539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94758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INNOVATION, CREATIVITY &amp;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110" y="1736582"/>
            <a:ext cx="107251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explicitly manages sequencing, state, and retry loops — not a fixed linear pipeline.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Mixed-model routing: gpt-oss-120b for Planner/Reviewer, gpt-oss-20b for Coder/Tester — free-tier vs. paid APIs used elsewhere.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agent returns fixed,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-validated JSON instead of relying on shaky free-tier tool-calling.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IDs live in env vars, so swapping providers (already done once after Llama 3.x was deprecated) is a config change, not a code change.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execution closes the safety gap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AgentMesh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flagged — subprocess isolation + timeout + POSIX resource limits, with three real bugs found and fixed via live runs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227" y="1778829"/>
            <a:ext cx="100695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component (Flask,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Git) is existing, maintained tech.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tier removes the GPU/hosting cost barrier.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pipelines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AgentMesh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Sami et al.) already prove this approach works, even if output quality still needs work.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retry loop is a standard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edge, not a novel challenge.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risks (hallucination, short memory, code smells) are documented, so review/testing stages are planned for them upfront.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0" y="218681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PROJECT PLAN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F5254-2811-623C-1165-06E26391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17" y="1019298"/>
            <a:ext cx="9380763" cy="5617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review 2</Template>
  <TotalTime>1</TotalTime>
  <Words>584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Times New Roman</vt:lpstr>
      <vt:lpstr>Office Theme</vt:lpstr>
      <vt:lpstr>Multi-Agent AI Framework for Automated Software Development AI Framework for Automated Software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Hamsini Kapilavai</dc:creator>
  <cp:lastModifiedBy>Hamsini Kapilavai</cp:lastModifiedBy>
  <cp:revision>1</cp:revision>
  <dcterms:created xsi:type="dcterms:W3CDTF">2026-09-20T13:24:21Z</dcterms:created>
  <dcterms:modified xsi:type="dcterms:W3CDTF">2026-09-20T13:25:30Z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